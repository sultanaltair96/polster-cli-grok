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7C3AED"/>
                </a:solidFill>
                <a:latin typeface="Inter"/>
              </a:defRPr>
            </a:pPr>
            <a:r>
              <a:t>Polster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64748B"/>
                </a:solidFill>
                <a:latin typeface="Inter"/>
              </a:defRPr>
            </a:pPr>
            <a:r>
              <a:t>Build Reliable Data Pipelines with Enforced Architecture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304" y="5029200"/>
            <a:ext cx="9144000" cy="155724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64748B"/>
                </a:solidFill>
                <a:latin typeface="Inter"/>
              </a:defRPr>
            </a:pPr>
            <a:r>
              <a:t>Data Analytics Meetup • January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F172A"/>
                </a:solidFill>
                <a:latin typeface="Inter"/>
              </a:defRPr>
            </a:pPr>
            <a:r>
              <a:t>Why Do Data Projects Fail?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465472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1828800" y="5486400"/>
            <a:ext cx="8534095" cy="914400"/>
          </a:xfrm>
          <a:prstGeom prst="roundRect">
            <a:avLst/>
          </a:prstGeom>
          <a:solidFill>
            <a:srgbClr val="FEF3C7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11680" y="5669280"/>
            <a:ext cx="8138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F172A"/>
                </a:solidFill>
                <a:latin typeface="Inter"/>
              </a:defRPr>
            </a:pPr>
            <a:r>
              <a:t>💡 The root cause: Lack of enforced architecture leads to technical debt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F172A"/>
                </a:solidFill>
                <a:latin typeface="Inter"/>
              </a:defRPr>
            </a:pPr>
            <a:r>
              <a:t>The Solution: Medallion Architecture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371600"/>
            <a:ext cx="4572000" cy="34468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8288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Inter"/>
              </a:defRPr>
            </a:pPr>
            <a:r>
              <a:t>✓ Quality improves at each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237744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Inter"/>
              </a:defRPr>
            </a:pPr>
            <a:r>
              <a:t>✓ Clear data lineage &amp; debugging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926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Inter"/>
              </a:defRPr>
            </a:pPr>
            <a:r>
              <a:t>✓ Consistent structure across teams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34747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Inter"/>
              </a:defRPr>
            </a:pPr>
            <a:r>
              <a:t>✓ Enforced best practices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4023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0F172A"/>
                </a:solidFill>
                <a:latin typeface="Inter"/>
              </a:defRPr>
            </a:pPr>
            <a:r>
              <a:t>✓ Separate concerns by layer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5029200"/>
            <a:ext cx="4572000" cy="914400"/>
          </a:xfrm>
          <a:prstGeom prst="roundRect">
            <a:avLst/>
          </a:prstGeom>
          <a:solidFill>
            <a:srgbClr val="E0E7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40880" y="5212080"/>
            <a:ext cx="4206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Inter"/>
              </a:defRPr>
            </a:pPr>
            <a:r>
              <a:t>Like refining ore:</a:t>
            </a:r>
            <a:br/>
            <a:r>
              <a:t>Raw → Purified → Valuable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F172A"/>
                </a:solidFill>
                <a:latin typeface="Inter"/>
              </a:defRPr>
            </a:pPr>
            <a:r>
              <a:t>Meet Polster: Architecture as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923C"/>
                </a:solidFill>
                <a:latin typeface="Inter"/>
              </a:defRPr>
            </a:pPr>
            <a:r>
              <a:t>BEFORE: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Manual project setup (2-3 days)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Inconsistent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Complex dependency 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7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No enforced patterns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29183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Production surprises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13716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  <a:latin typeface="Inter"/>
              </a:defRPr>
            </a:pPr>
            <a:r>
              <a:t>AFTER: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828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One command setup (5 minutes)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2194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Enforced Medallion layers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560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Automatic dependencies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92607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Built-in best practices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32918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Inter"/>
              </a:defRPr>
            </a:pPr>
            <a:r>
              <a:t>• Catch errors early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4572000"/>
            <a:ext cx="8534095" cy="137160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47548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Inter"/>
              </a:defRPr>
            </a:pPr>
            <a:r>
              <a:t>$ polster init my_pipeline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212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  <a:latin typeface="Inter"/>
              </a:defRPr>
            </a:pPr>
            <a:r>
              <a:t>✓ Bronze layer created  ✓ Silver layer created  ✓ Gold layer created  ✓ Ready to build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F172A"/>
                </a:solidFill>
                <a:latin typeface="Inter"/>
              </a:defRPr>
            </a:pPr>
            <a:r>
              <a:t>5 Minutes to Production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274824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4114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Inter"/>
              </a:defRPr>
            </a:pPr>
            <a:r>
              <a:t>1. Initialize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4114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ourier New"/>
              </a:defRPr>
            </a:pPr>
            <a:r>
              <a:t>$ polster init my_project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Inter"/>
              </a:defRPr>
            </a:pPr>
            <a:r>
              <a:t>2. Add Bronze Asset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ourier New"/>
              </a:defRPr>
            </a:pPr>
            <a:r>
              <a:t>$ polster add-asset --layer bronze --name raw_sales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Inter"/>
              </a:defRPr>
            </a:pPr>
            <a:r>
              <a:t>3. Add Silver Asset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5029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ourier New"/>
              </a:defRPr>
            </a:pPr>
            <a:r>
              <a:t>$ polster add-asset --layer silver --name clean_sales --dependencies raw_sales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Inter"/>
              </a:defRPr>
            </a:pPr>
            <a:r>
              <a:t>4. Add Gold Asset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54864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ourier New"/>
              </a:defRPr>
            </a:pPr>
            <a:r>
              <a:t>$ polster add-asset --layer gold --name sales_metrics --dependencies clean_sales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3AED"/>
                </a:solidFill>
                <a:latin typeface="Inter"/>
              </a:defRPr>
            </a:pPr>
            <a:r>
              <a:t>5. Run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943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4748B"/>
                </a:solidFill>
                <a:latin typeface="Courier New"/>
              </a:defRPr>
            </a:pPr>
            <a:r>
              <a:t>$ python run_polster.py --ui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F172A"/>
                </a:solidFill>
                <a:latin typeface="Inter"/>
              </a:defRPr>
            </a:pPr>
            <a:r>
              <a:t>Less Boilerplate, More Business Logic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77295" cy="46246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F172A"/>
                </a:solidFill>
                <a:latin typeface="Inter"/>
              </a:defRPr>
            </a:pPr>
            <a:r>
              <a:t>Guardrails, Not Gates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77295" cy="480373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F172A"/>
                </a:solidFill>
                <a:latin typeface="Inter"/>
              </a:defRPr>
            </a:pPr>
            <a:r>
              <a:t>Results That Matter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2895" cy="513256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F172A"/>
                </a:solidFill>
                <a:latin typeface="Inter"/>
              </a:defRPr>
            </a:pPr>
            <a:r>
              <a:t>Works With Your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Inter"/>
              </a:defRPr>
            </a:pPr>
            <a:r>
              <a:t>Languages &amp; Frameworks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64592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Inter"/>
              </a:defRPr>
            </a:pPr>
            <a:r>
              <a:t>🐍 Python • ⚡ Polars • 🐼 Pandas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377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Inter"/>
              </a:defRPr>
            </a:pPr>
            <a:r>
              <a:t>Orchestration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0" y="23774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Inter"/>
              </a:defRPr>
            </a:pPr>
            <a:r>
              <a:t>🔄 Dagster • ☁️ Cloud-native • 🚀 Scalable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Inter"/>
              </a:defRPr>
            </a:pPr>
            <a:r>
              <a:t>Data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31089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Inter"/>
              </a:defRPr>
            </a:pPr>
            <a:r>
              <a:t>🐘 PostgreSQL • 📊 MySQL • 🔌 REST APIs • 📁 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C3AED"/>
                </a:solidFill>
                <a:latin typeface="Inter"/>
              </a:defRPr>
            </a:pPr>
            <a:r>
              <a:t>Destinations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40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4748B"/>
                </a:solidFill>
                <a:latin typeface="Inter"/>
              </a:defRPr>
            </a:pPr>
            <a:r>
              <a:t>☁️ AWS • ☁️ Azure • ☁️ GCP • 📈 BI Tools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286000"/>
            <a:ext cx="4114800" cy="4092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F172A"/>
                </a:solidFill>
                <a:latin typeface="Inter"/>
              </a:defRPr>
            </a:pPr>
            <a:r>
              <a:t>Who Is Polster For?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828800"/>
            <a:ext cx="3474720" cy="4114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20116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0F172A"/>
                </a:solidFill>
                <a:latin typeface="Inter"/>
              </a:defRPr>
            </a:pPr>
            <a:r>
              <a:t>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34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Inter"/>
              </a:defRPr>
            </a:pPr>
            <a:r>
              <a:t>Data Engineer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747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Inter"/>
              </a:defRPr>
            </a:pPr>
            <a:r>
              <a:t>"Finally, a standardized way to build pipelines that my team can actually maintain."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0" y="1828800"/>
            <a:ext cx="3474720" cy="4114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94960" y="20116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0F172A"/>
                </a:solidFill>
                <a:latin typeface="Inter"/>
              </a:defRPr>
            </a:pPr>
            <a: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2834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Inter"/>
              </a:defRPr>
            </a:pPr>
            <a:r>
              <a:t>Analytics Manager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4747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Inter"/>
              </a:defRPr>
            </a:pPr>
            <a:r>
              <a:t>"My team ships faster with fewer bugs. New hires get productive in days, not weeks."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1828800"/>
            <a:ext cx="3474720" cy="411480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5DAD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0" y="201168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0">
                <a:solidFill>
                  <a:srgbClr val="0F172A"/>
                </a:solidFill>
                <a:latin typeface="Inter"/>
              </a:defRPr>
            </a:pPr>
            <a:r>
              <a:t>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8346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  <a:latin typeface="Inter"/>
              </a:defRPr>
            </a:pPr>
            <a:r>
              <a:t>Startup CTO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474720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Inter"/>
              </a:defRPr>
            </a:pPr>
            <a:r>
              <a:t>"Enterprise-grade data infrastructure without the enterprise timeline or budget."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0F172A"/>
                </a:solidFill>
                <a:latin typeface="Inter"/>
              </a:defRPr>
            </a:pPr>
            <a:r>
              <a:t>Start Building Today</a:t>
            </a:r>
          </a:p>
        </p:txBody>
      </p:sp>
      <p:sp>
        <p:nvSpPr>
          <p:cNvPr id="3" name="Oval 2"/>
          <p:cNvSpPr/>
          <p:nvPr/>
        </p:nvSpPr>
        <p:spPr>
          <a:xfrm>
            <a:off x="914400" y="1828800"/>
            <a:ext cx="731520" cy="731520"/>
          </a:xfrm>
          <a:prstGeom prst="ellipse">
            <a:avLst/>
          </a:prstGeom>
          <a:solidFill>
            <a:srgbClr val="CD7F32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659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828800"/>
            <a:ext cx="5486400" cy="73152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2011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ourier New"/>
              </a:defRPr>
            </a:pPr>
            <a:r>
              <a:t>$ pip install polster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0116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Inter"/>
              </a:defRPr>
            </a:pPr>
            <a:r>
              <a:t>Install from PyPI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200400"/>
            <a:ext cx="731520" cy="731520"/>
          </a:xfrm>
          <a:prstGeom prst="ellipse">
            <a:avLst/>
          </a:prstGeom>
          <a:solidFill>
            <a:srgbClr val="C0C0C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3375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200400"/>
            <a:ext cx="5486400" cy="73152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ourier New"/>
              </a:defRPr>
            </a:pPr>
            <a:r>
              <a:t>$ polster init my_project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33832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Inter"/>
              </a:defRPr>
            </a:pPr>
            <a:r>
              <a:t>Create your first pipeline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572000"/>
            <a:ext cx="731520" cy="731520"/>
          </a:xfrm>
          <a:prstGeom prst="ellipse">
            <a:avLst/>
          </a:prstGeom>
          <a:solidFill>
            <a:srgbClr val="FFD7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70916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4572000"/>
            <a:ext cx="5486400" cy="731520"/>
          </a:xfrm>
          <a:prstGeom prst="round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11680" y="47548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Courier New"/>
              </a:defRPr>
            </a:pPr>
            <a:r>
              <a:t>$ python run_polster.py --ui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7548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748B"/>
                </a:solidFill>
                <a:latin typeface="Inter"/>
              </a:defRPr>
            </a:pPr>
            <a:r>
              <a:t>Launch the UI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303520"/>
            <a:ext cx="11277295" cy="1097280"/>
          </a:xfrm>
          <a:prstGeom prst="roundRect">
            <a:avLst/>
          </a:prstGeom>
          <a:solidFill>
            <a:srgbClr val="E0E7FF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5486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F172A"/>
                </a:solidFill>
                <a:latin typeface="Inter"/>
              </a:defRPr>
            </a:pPr>
            <a:r>
              <a:t>📦 pip install polster  •  🐙 github.com/sultanaltair96/polster-cli  •  📚 polster.rtfd.io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772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0F172A"/>
                </a:solidFill>
                <a:latin typeface="Inter"/>
              </a:defRPr>
            </a:pPr>
            <a:r>
              <a:t>Polster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112772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64748B"/>
                </a:solidFill>
                <a:latin typeface="Inter"/>
              </a:defRPr>
            </a:pPr>
            <a:r>
              <a:t>Architecture that scales with your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F172A"/>
                </a:solidFill>
                <a:latin typeface="Inter"/>
              </a:defRPr>
            </a:pPr>
            <a:r>
              <a:t>🚀 pip install polster  |  💻 github.com/sultanaltair96/polster-cli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669280"/>
            <a:ext cx="112772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C3AED"/>
                </a:solidFill>
                <a:latin typeface="Inter"/>
              </a:defRPr>
            </a:pPr>
            <a:r>
              <a:t>Questions? Let's talk!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